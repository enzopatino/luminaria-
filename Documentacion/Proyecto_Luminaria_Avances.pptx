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slideMaster+xml"/>
  <Override PartName="/ppt/slideLayouts/slideLayout1.xml" ContentType="application/vnd.openxmlformats-officedocument.slideLayout+xml"/>
  <Override PartName="/ppt/theme/theme1.xml" ContentType="application/vnd.openxmlformats-officedocument.theme+xml"/>
  <Override PartName="/ppt/slides/slide1.xml" ContentType="application/vnd.openxmlformats-officedocument.slide+xml"/>
  <Override PartName="/ppt/slides/slide2.xml" ContentType="application/vnd.openxmlformats-officedocument.slide+xml"/>
  <Override PartName="/ppt/slides/slide3.xml" ContentType="application/vnd.openxmlformats-officedocument.slide+xml"/>
  <Override PartName="/ppt/slides/slide4.xml" ContentType="application/vnd.openxmlformats-officedocument.slide+xml"/>
  <Override PartName="/ppt/slides/slide5.xml" ContentType="application/vnd.openxmlformats-officedocument.slide+xml"/>
  <Override PartName="/ppt/slides/slide6.xml" ContentType="application/vnd.openxmlformats-officedocument.slide+xml"/>
  <Override PartName="/ppt/slides/slide7.xml" ContentType="application/vnd.openxmlformats-officedocument.slide+xml"/>
  <Override PartName="/ppt/slides/slide8.xml" ContentType="application/vnd.openxmlformats-officedocument.slide+xml"/>
  <Override PartName="/ppt/slides/slide9.xml" ContentType="application/vnd.openxmlformats-officedocument.slide+xml"/>
  <Override PartName="/ppt/slides/slide10.xml" ContentType="application/vnd.openxmlformats-officedocument.slide+xml"/>
  <Override PartName="/ppt/slides/slide11.xml" ContentType="application/vnd.openxmlformats-officedocument.slide+xml"/>
  <Override PartName="/ppt/slides/slide12.xml" ContentType="application/vnd.openxmlformats-officedocument.slide+xml"/>
  <Override PartName="/ppt/slides/slide13.xml" ContentType="application/vnd.openxmlformats-officedocument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LUMINARIA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Monitoreo y Alertas Eléctricas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Iluminación Pública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Municipalidad de Neuquén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de Desarrollo: EPET N°14 · EPET N°20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0" y="1828800"/>
            <a:ext cx="2743200" cy="2743200"/>
          </a:xfrm>
          <a:prstGeom prst="ellipse">
            <a:avLst/>
          </a:prstGeom>
          <a:solidFill>
            <a:srgbClr val="16213E">
              <a:alpha val="50000"/>
            </a:srgbClr>
          </a:solidFill>
          <a:ln w="381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20116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Luminaria?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web para monitoreo en tiempo real de tableros de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iluminación pública. Detecta anomalies eléctricas y alerta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personal de mantenimiento de forma inmediata.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200400" cy="2926080"/>
          </a:xfrm>
          <a:prstGeom prst="roundRect">
            <a:avLst>
              <a:gd name="adj" fmla="val 4688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en Tiempo Real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0233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web con estado de cada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tablero, tensión, fase y focos.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instantánea vía MQTT.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3200400" cy="2926080"/>
          </a:xfrm>
          <a:prstGeom prst="roundRect">
            <a:avLst>
              <a:gd name="adj" fmla="val 4688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834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Alertas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0233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por severidad: Crítica,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Advertencia e Informativa.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Sonidos y banner de estado global.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743200"/>
            <a:ext cx="3200400" cy="2926080"/>
          </a:xfrm>
          <a:prstGeom prst="roundRect">
            <a:avLst>
              <a:gd name="adj" fmla="val 4688"/>
            </a:avLst>
          </a:prstGeom>
          <a:solidFill>
            <a:srgbClr val="0F3460">
              <a:alpha val="7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834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13816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C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Ambientales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38160" y="40233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Temperatura y humedad en tiempo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 gráficos Chart.js.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Rangos validados y alertas.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Avances Realizados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completo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de tableros, mapa de zonas SVG,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y banner de estado global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eventos MQTT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tipos de eventos eléctricos: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tensión, desconexión, foco quemado,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telemetría normal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simulación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977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sin hardware ni broker.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presets para demostración.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claro / oscuro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5166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con persistencia.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Anti-flash al cargar la página.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responsive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002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hamburguesa, tabs flotantes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mapa adaptado para móvil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2468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sonoras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788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API: tono crítico y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advertencia, con toggle on/off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ambientales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17920" y="3977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Chart.js: historial y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rangos (nuevo)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Express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51663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 funcional.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preparada para expansión.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DESKTOP · PANORAMA PRINCIPAL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Dashboard Principal de Monitoreo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Panorama General de la Página Web (Escritorio)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Img/capturas/01_desktop_general.png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Visualización centralizada en tiempo real del sistema de iluminación pública municipal.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Muestra KPIs globales (total tableros, activos, fallas críticas y alertas).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Grid interactivo de tableros eléctricos con su estado de tensión y fases.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Banner de estado del sistema y selector rápido de modos.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DESKTOP · SECCIÓN TABLEROS Y ZONAS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Mapa Geográfico Interactivo SVG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Sección Mapa de Zonas e Infraestructura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Img/capturas/02_desktop_mapa.png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Geolocalización y zonificación de la red de luminarias públicas.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Mapa SVG vectorizado adaptable a pantalla completa.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Indicadores de estado por sectores y cuadrantes de la ciudad.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Selección directa de nodos para inspección detallada de parámetros.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DESKTOP · GESTIÓN DE INCIDENCIAS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Panel de Alertas y Severidades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Registro de Alertas y Eventos Críticos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Img/capturas/03_desktop_alertas.png / 09_desktop_alertas_critica.png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Centro de control de anomalías operativas y fallas eléctricas.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Clasificación según severidad: Crítica, Advertencia e Informativa.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Indicadores visuales por código de color y soporte de alarmas sonoras.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Historial en vivo de desconexiones, baja tensión y focos quemados.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DESKTOP · TELEMETRÍA Y AMBIENTAL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Monitoreo de Sensores y Gráficos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Sección de Sensores Ambientales (Chart.js)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Img/capturas/04_desktop_sensores.png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Seguimiento de variables ambientales en gabinetes de control.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Gráficos dinámicos interactivos desarrollados con Chart.js.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Historial de temperatura, humedad y rangos admisibles.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Detección preventiva de sobrecalentamiento en tableros.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DESKTOP · DIAGNÓSTICO Y PROTOCOLO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Consola MQTT y Simulador Integrado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Consola de Eventos MQTT o Simulador de Hardware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Img/capturas/05_desktop_consola.png / 06_desktop_simulador.png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Herramientas de depuración y prueba para operadores y desarrolladores.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Consola en tiempo real de mensajes JSON recibidos del broker MQTT.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Simulador con 6 presets (baja tensión, corte de fase, foco quemado, etc.).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Inspección directa de payloads sin requerir hardware físico conectado.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RESPONSIVE · MÓVIL Y TABLET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Interfaz Adaptativa para Móviles (Responsive)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Vista Móvil General o Menú Hamburguesa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Img/capturas/11_mobile_general.png / 12_mobile_menu.png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Diseño 100% adaptable para uso en campo por personal de mantenimiento.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Menú hamburguesa desplegable y navegación fluida por gestos.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Reorganización vertical de los tableros y tarjetas de estado.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Optimización de touch targets para operación rápida en smartphone.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VISTA RESPONSIVE · SECCIONES MÓVILES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Secciones de Alertas y Mapa en Móvil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Mapa o Alertas en Pantalla de Celular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Img/capturas/13_mobile_mapa.png / 14_mobile_alertas.png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Herramientas de monitoreo remoto adaptadas a pantallas reducidas.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Mapa interactivo ajustado al ancho de pantalla móvil.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Lista de alertas comprimida para lectura clara en vía pública.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Acceso instantáneo a llamadas de emergencia o reporte de fallas.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0">
        <a:solidFill>
          <a:srgbClr val="1A1A2E"/>
        </a:solidFill>
      </p:bgPr>
    </p:bg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!-- Top Red/Crimson Line (Matching Slide 3) -->
      <p:sp>
        <p:nvSpPr>
          <p:cNvPr id="2" name="AccentLine"/>
          <p:cNvSpPr/>
          <p:nvPr/>
        </p:nvSpPr>
        <p:spPr>
          <a:xfrm>
            <a:off x="731520" y="1005840"/>
            <a:ext cx="18288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/>
        </p:txBody>
      </p:sp>
      <!-- Category Tag (Small Label above title) -->
      <p:sp>
        <p:nvSpPr>
          <p:cNvPr id="3" name="CategoryTag"/>
          <p:cNvSpPr/>
          <p:nvPr/>
        </p:nvSpPr>
        <p:spPr>
          <a:xfrm>
            <a:off x="731520" y="150000"/>
            <a:ext cx="6000000" cy="20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E63946"/>
                </a:solidFill>
                <a:latin typeface="Arial"/>
              </a:rPr>
              <a:t>DISEÑO DE INTERFAZ · PERSONALIZACIÓN</a:t>
            </a:r>
          </a:p>
        </p:txBody>
      </p:sp>
      <!-- Slide Title (Underlined like Slide 3) -->
      <p:sp>
        <p:nvSpPr>
          <p:cNvPr id="4" name="Title"/>
          <p:cNvSpPr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400" b="1" u="sng">
                <a:solidFill>
                  <a:srgbClr val="FFFFFF"/>
                </a:solidFill>
                <a:latin typeface="Arial"/>
              </a:rPr>
              <a:t>Soporte de Tema Claro / Tema Oscuro</a:t>
            </a:r>
          </a:p>
        </p:txBody>
      </p:sp>
      <!-- Left Box: Photo Frame -->
      <p:sp>
        <p:nvSpPr>
          <p:cNvPr id="6" name="PhotoBox"/>
          <p:cNvSpPr/>
          <p:nvPr/>
        </p:nvSpPr>
        <p:spPr>
          <a:xfrm>
            <a:off x="731520" y="1280160"/>
            <a:ext cx="6200000" cy="5100000"/>
          </a:xfrm>
          <a:prstGeom prst="rect">
            <a:avLst/>
          </a:prstGeom>
          <a:solidFill>
            <a:srgbClr val="16213E"/>
          </a:solidFill>
          <a:ln w="19050">
            <a:solidFill>
              <a:srgbClr val="E6394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E63946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FFFFF"/>
                </a:solidFill>
                <a:latin typeface="Arial"/>
              </a:rPr>
              <a:t>FOTO DE: Aplicación en Tema Claro (Light Mode)</a:t>
            </a:r>
          </a:p>
          <a:p>
            <a:pPr algn="ctr"/>
            <a:r>
              <a:rPr lang="es-AR" sz="1100" i="1">
                <a:solidFill>
                  <a:srgbClr val="B0B0C0"/>
                </a:solidFill>
                <a:latin typeface="Arial"/>
              </a:rPr>
              <a:t>Captura recomendada: Img/capturas/10_desktop_tema_claro.png / 20_mobile_tema_claro.png</a:t>
            </a:r>
          </a:p>
        </p:txBody>
      </p:sp>
      <!-- Right Box: Description Box -->
      <p:sp>
        <p:nvSpPr>
          <p:cNvPr id="7" name="DescPanel"/>
          <p:cNvSpPr/>
          <p:nvPr/>
        </p:nvSpPr>
        <p:spPr>
          <a:xfrm>
            <a:off x="7200000" y="1280160"/>
            <a:ext cx="4200000" cy="5100000"/>
          </a:xfrm>
          <a:prstGeom prst="rect">
            <a:avLst/>
          </a:prstGeom>
          <a:solidFill>
            <a:srgbClr val="16213E"/>
          </a:solidFill>
          <a:ln>
            <a:solidFill>
              <a:srgbClr val="0F3460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FFFFFF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Experiencia visual adaptable a condiciones de iluminación ambiental.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Toggle de conmutación rápida entre Modo Oscuro y Modo Claro.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Persistencia de preferencia en localStorage del navegador.</a:t>
            </a:r>
          </a:p>
          <a:p>
            <a:pPr marL="0">
              <a:spcPct val="110000"/>
            </a:pPr>
            <a:r>
              <a:rPr lang="es-AR" sz="1100">
                <a:solidFill>
                  <a:srgbClr val="B0B0C0"/>
                </a:solidFill>
                <a:latin typeface="Arial"/>
              </a:rPr>
              <a:t>• Script anti-flash para evitar destellos blancos durante el inicio.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/>
        </p:txBody>
      </p:sp>
      <p:sp>
        <p:nvSpPr>
          <p:cNvPr id="3" name="CategoryTag"/>
          <p:cNvSpPr/>
          <p:nvPr/>
        </p:nvSpPr>
        <p:spPr>
          <a:xfrm>
            <a:off x="731520" y="274320"/>
            <a:ext cx="5000000" cy="25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3B82F6"/>
                </a:solidFill>
                <a:latin typeface="Arial"/>
              </a:rPr>
              <a:t>VISTA DESKTOP · PANORAMA PRINCIPAL</a:t>
            </a:r>
          </a:p>
        </p:txBody>
      </p:sp>
      <p:sp>
        <p:nvSpPr>
          <p:cNvPr id="4" name="Title"/>
          <p:cNvSpPr/>
          <p:nvPr/>
        </p:nvSpPr>
        <p:spPr>
          <a:xfrm>
            <a:off x="731520" y="520000"/>
            <a:ext cx="10515600" cy="55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200" b="1">
                <a:solidFill>
                  <a:srgbClr val="FFFFFF"/>
                </a:solidFill>
                <a:latin typeface="Arial"/>
              </a:rPr>
              <a:t>Dashboard Principal de Monitoreo</a:t>
            </a:r>
          </a:p>
        </p:txBody>
      </p:sp>
      <p:sp>
        <p:nvSpPr>
          <p:cNvPr id="5" name="Line"/>
          <p:cNvSpPr/>
          <p:nvPr/>
        </p:nvSpPr>
        <p:spPr>
          <a:xfrm>
            <a:off x="731520" y="1100000"/>
            <a:ext cx="1828800" cy="30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/>
        </p:txBody>
      </p:sp>
      <p:sp>
        <p:nvSpPr>
          <p:cNvPr id="6" name="PhotoBox"/>
          <p:cNvSpPr/>
          <p:nvPr/>
        </p:nvSpPr>
        <p:spPr>
          <a:xfrm>
            <a:off x="731520" y="1300000"/>
            <a:ext cx="6500000" cy="5200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60A5FA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8FAFC"/>
                </a:solidFill>
                <a:latin typeface="Arial"/>
              </a:rPr>
              <a:t>FOTO DE: Panorama General de la Página Web (Escritorio)</a:t>
            </a:r>
          </a:p>
          <a:p>
            <a:pPr algn="ctr"/>
            <a:r>
              <a:rPr lang="es-AR" sz="1100" i="1">
                <a:solidFill>
                  <a:srgbClr val="94A3B8"/>
                </a:solidFill>
                <a:latin typeface="Arial"/>
              </a:rPr>
              <a:t>Captura recomendada: Img/capturas/01_desktop_general.png</a:t>
            </a:r>
          </a:p>
        </p:txBody>
      </p:sp>
      <p:sp>
        <p:nvSpPr>
          <p:cNvPr id="7" name="DescPanel"/>
          <p:cNvSpPr/>
          <p:nvPr/>
        </p:nvSpPr>
        <p:spPr>
          <a:xfrm>
            <a:off x="7500000" y="1300000"/>
            <a:ext cx="3950000" cy="5200000"/>
          </a:xfrm>
          <a:prstGeom prst="rect">
            <a:avLst/>
          </a:prstGeom>
          <a:solidFill>
            <a:srgbClr val="1E1E2F"/>
          </a:solidFill>
          <a:ln>
            <a:solidFill>
              <a:srgbClr val="334155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38BDF8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Visualización centralizada en tiempo real del sistema de iluminación pública municipal.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• Muestra KPIs globales (total tableros, activos, fallas críticas y alertas).</a:t>
            </a: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• Grid interactivo de tableros eléctricos con su estado de tensión y fases.</a:t>
            </a: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• Banner de estado del sistema y selector rápido de modos.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/>
        </p:txBody>
      </p:sp>
      <p:sp>
        <p:nvSpPr>
          <p:cNvPr id="3" name="CategoryTag"/>
          <p:cNvSpPr/>
          <p:nvPr/>
        </p:nvSpPr>
        <p:spPr>
          <a:xfrm>
            <a:off x="731520" y="274320"/>
            <a:ext cx="5000000" cy="25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1000" b="1">
                <a:solidFill>
                  <a:srgbClr val="3B82F6"/>
                </a:solidFill>
                <a:latin typeface="Arial"/>
              </a:rPr>
              <a:t>VISTA DESKTOP · SECCIÓN TABLEROS Y ZONAS</a:t>
            </a:r>
          </a:p>
        </p:txBody>
      </p:sp>
      <p:sp>
        <p:nvSpPr>
          <p:cNvPr id="4" name="Title"/>
          <p:cNvSpPr/>
          <p:nvPr/>
        </p:nvSpPr>
        <p:spPr>
          <a:xfrm>
            <a:off x="731520" y="520000"/>
            <a:ext cx="10515600" cy="550000"/>
          </a:xfrm>
          <a:prstGeom prst="rect">
            <a:avLst/>
          </a:prstGeom>
          <a:noFill/>
          <a:ln/>
        </p:spPr>
        <p:txBody>
          <a:bodyPr/>
          <a:lstStyle/>
          <a:p>
            <a:r>
              <a:rPr lang="es-AR" sz="2200" b="1">
                <a:solidFill>
                  <a:srgbClr val="FFFFFF"/>
                </a:solidFill>
                <a:latin typeface="Arial"/>
              </a:rPr>
              <a:t>Mapa Geográfico Interactivo SVG</a:t>
            </a:r>
          </a:p>
        </p:txBody>
      </p:sp>
      <p:sp>
        <p:nvSpPr>
          <p:cNvPr id="5" name="Line"/>
          <p:cNvSpPr/>
          <p:nvPr/>
        </p:nvSpPr>
        <p:spPr>
          <a:xfrm>
            <a:off x="731520" y="1100000"/>
            <a:ext cx="1828800" cy="30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/>
        </p:txBody>
      </p:sp>
      <p:sp>
        <p:nvSpPr>
          <p:cNvPr id="6" name="PhotoBox"/>
          <p:cNvSpPr/>
          <p:nvPr/>
        </p:nvSpPr>
        <p:spPr>
          <a:xfrm>
            <a:off x="731520" y="1300000"/>
            <a:ext cx="6500000" cy="5200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dash"/>
          </a:ln>
        </p:spPr>
        <p:txBody>
          <a:bodyPr anchor="ctr"/>
          <a:lstStyle/>
          <a:p>
            <a:pPr algn="ctr"/>
            <a:r>
              <a:rPr lang="es-AR" sz="1800" b="1">
                <a:solidFill>
                  <a:srgbClr val="60A5FA"/>
                </a:solidFill>
                <a:latin typeface="Arial"/>
              </a:rPr>
              <a:t>🖼️ [ INSERTAR FOTO AQUÍ ]</a:t>
            </a:r>
          </a:p>
          <a:p>
            <a:pPr algn="ctr"/>
            <a:r>
              <a:rPr lang="es-AR" sz="1300" b="1">
                <a:solidFill>
                  <a:srgbClr val="F8FAFC"/>
                </a:solidFill>
                <a:latin typeface="Arial"/>
              </a:rPr>
              <a:t>FOTO DE: Sección Mapa de Zonas e Infraestructura</a:t>
            </a:r>
          </a:p>
          <a:p>
            <a:pPr algn="ctr"/>
            <a:r>
              <a:rPr lang="es-AR" sz="1100" i="1">
                <a:solidFill>
                  <a:srgbClr val="94A3B8"/>
                </a:solidFill>
                <a:latin typeface="Arial"/>
              </a:rPr>
              <a:t>Captura recomendada: Img/capturas/02_desktop_mapa.png</a:t>
            </a:r>
          </a:p>
        </p:txBody>
      </p:sp>
      <p:sp>
        <p:nvSpPr>
          <p:cNvPr id="7" name="DescPanel"/>
          <p:cNvSpPr/>
          <p:nvPr/>
        </p:nvSpPr>
        <p:spPr>
          <a:xfrm>
            <a:off x="7500000" y="1300000"/>
            <a:ext cx="3950000" cy="5200000"/>
          </a:xfrm>
          <a:prstGeom prst="rect">
            <a:avLst/>
          </a:prstGeom>
          <a:solidFill>
            <a:srgbClr val="1E1E2F"/>
          </a:solidFill>
          <a:ln>
            <a:solidFill>
              <a:srgbClr val="334155"/>
            </a:solidFill>
          </a:ln>
        </p:spPr>
        <p:txBody>
          <a:bodyPr anchor="t" marL="180000" marR="180000" marT="180000" marB="180000"/>
          <a:lstStyle/>
          <a:p>
            <a:r>
              <a:rPr lang="es-AR" sz="1400" b="1">
                <a:solidFill>
                  <a:srgbClr val="38BDF8"/>
                </a:solidFill>
                <a:latin typeface="Arial"/>
              </a:rPr>
              <a:t>Explicación Técnica:</a:t>
            </a: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Geolocalización y zonificación de la red de luminarias públicas.</a:t>
            </a:r>
          </a:p>
          <a:p>
            <a:pPr marL="0">
              <a:spcPct val="80000"/>
            </a:pP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• Mapa SVG vectorizado adaptable a pantalla completa.</a:t>
            </a: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• Indicadores de estado por sectores y cuadrantes de la ciudad.</a:t>
            </a:r>
          </a:p>
          <a:p>
            <a:pPr marL="0">
              <a:spcPct val="110000"/>
            </a:pPr>
            <a:r>
              <a:rPr lang="es-AR" sz="1100">
                <a:solidFill>
                  <a:srgbClr val="E2E8F0"/>
                </a:solidFill>
                <a:latin typeface="Arial"/>
              </a:rPr>
              <a:t>• Selección directa de nodos para inspección detallada de parámetros.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Luminaria - Avances del Proyecto</dc:title>
  <dc:subject>PptxGenJS Presentation</dc:subject>
  <dc:creator>Proyecto Luminaria - EPET N°14 / EPET N°20</dc:creator>
  <cp:lastModifiedBy>Proyecto Luminaria - EPET N°14 / EPET N°20</cp:lastModifiedBy>
  <cp:revision>1</cp:revision>
  <dcterms:created xsi:type="dcterms:W3CDTF">2026-08-31T13:27:46Z</dcterms:created>
  <dcterms:modified xsi:type="dcterms:W3CDTF">2026-08-31T13:27:46Z</dcterms:modified>
</cp:coreProperties>
</file>